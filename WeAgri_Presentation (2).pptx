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9" r:id="rId9"/>
    <p:sldId id="271" r:id="rId10"/>
    <p:sldId id="273" r:id="rId11"/>
    <p:sldId id="274" r:id="rId12"/>
    <p:sldId id="27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es Charles" initials="CC" lastIdx="1" clrIdx="0">
    <p:extLst>
      <p:ext uri="{19B8F6BF-5375-455C-9EA6-DF929625EA0E}">
        <p15:presenceInfo xmlns:p15="http://schemas.microsoft.com/office/powerpoint/2012/main" userId="fc132524f2ff05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>
        <p:scale>
          <a:sx n="72" d="100"/>
          <a:sy n="72" d="100"/>
        </p:scale>
        <p:origin x="26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475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304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s.go.tz/statistics/topic/annual-agriculture-sample-survey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03120"/>
            <a:ext cx="5486400" cy="5486400"/>
          </a:xfrm>
          <a:prstGeom prst="ellipse">
            <a:avLst/>
          </a:prstGeom>
          <a:solidFill>
            <a:srgbClr val="1F3D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023360"/>
            <a:ext cx="5669280" cy="5669280"/>
          </a:xfrm>
          <a:prstGeom prst="ellipse">
            <a:avLst/>
          </a:prstGeom>
          <a:solidFill>
            <a:srgbClr val="E8B04B">
              <a:alpha val="45000"/>
            </a:srgbClr>
          </a:solidFill>
          <a:ln/>
        </p:spPr>
      </p:sp>
      <p:pic>
        <p:nvPicPr>
          <p:cNvPr id="4" name="Image 0" descr="/home/claude/weagri-pitch/assets/weagri_logo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08" y="77724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 err="1">
                <a:solidFill>
                  <a:srgbClr val="8FD1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WeAgri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Agricultural Social Commerce Platform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3767328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Every Agripreneur to Opportunity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55768" y="4434840"/>
            <a:ext cx="1280160" cy="0"/>
          </a:xfrm>
          <a:prstGeom prst="line">
            <a:avLst/>
          </a:prstGeom>
          <a:noFill/>
          <a:ln w="15875">
            <a:solidFill>
              <a:srgbClr val="3E56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Buy. Sell. Connect. Grow. — Across Tanzania &amp; East Africa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6172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Stakeholder Briefing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WeAgri?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is a mobile app, social-commerce marketplace purpose-built for agriculture. It connects farmers, livestock keepers, buyers and agricultural doctors directly on one platform — in their own language, with verified identities, real-time order tracking, and a trust system built around points and ratings.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420624" cy="420624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6" name="Image 0" descr="/home/claude/weagri-pitch/assets/icon_seedling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4082796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986784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directly — no middlemen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544568"/>
            <a:ext cx="420624" cy="420624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9" name="Image 1" descr="/home/claude/weagri-pitch/assets/icon_chat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464972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455371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buyer ↔ seller chat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5111496"/>
            <a:ext cx="420624" cy="420624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12" name="Image 2" descr="/home/claude/weagri-pitch/assets/icon_qr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5216652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512064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GPS order tracking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5678424"/>
            <a:ext cx="420624" cy="420624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15" name="Image 3" descr="/home/claude/weagri-pitch/assets/icon_lang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" y="5783580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5568" y="568756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&amp; English, built in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360920" y="1051560"/>
            <a:ext cx="4160520" cy="5349240"/>
          </a:xfrm>
          <a:prstGeom prst="roundRect">
            <a:avLst>
              <a:gd name="adj" fmla="val 3956"/>
            </a:avLst>
          </a:prstGeom>
          <a:solidFill>
            <a:srgbClr val="16243F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8" name="Image 4" descr="/home/claude/weagri-pitch/assets/lang_screen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62088" y="1252728"/>
            <a:ext cx="3758184" cy="34747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60920" y="48920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 WeAgri — choose language, then country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It is costs Tanzania millions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833372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11580" y="185470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19860" y="262737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across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Republic of Tanzania lost food after post harvest.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846320" y="1673352"/>
            <a:ext cx="2606040" cy="1943100"/>
          </a:xfrm>
          <a:prstGeom prst="roundRect">
            <a:avLst>
              <a:gd name="adj" fmla="val 5128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4900" y="1850136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68240" y="259664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 is lost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harvest, every year.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595360" y="1565656"/>
            <a:ext cx="2606040" cy="2050796"/>
          </a:xfrm>
          <a:prstGeom prst="roundRect">
            <a:avLst>
              <a:gd name="adj" fmla="val 5128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18592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TZS 3.18T+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732520" y="262737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 post-harvest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in Tanzania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15400" y="18288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happens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306824"/>
            <a:ext cx="91440" cy="91440"/>
          </a:xfrm>
          <a:prstGeom prst="ellipse">
            <a:avLst/>
          </a:prstGeom>
          <a:solidFill>
            <a:srgbClr val="C85A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879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sell blind — no visibility into real demand or fair prices nearby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690872"/>
            <a:ext cx="91440" cy="91440"/>
          </a:xfrm>
          <a:prstGeom prst="ellipse">
            <a:avLst/>
          </a:prstGeom>
          <a:solidFill>
            <a:srgbClr val="C85A3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72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can't verify who they're dealing with before sending money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91440" cy="91440"/>
          </a:xfrm>
          <a:prstGeom prst="ellipse">
            <a:avLst/>
          </a:prstGeom>
          <a:solidFill>
            <a:srgbClr val="C85A3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560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record of harvest timing, so produce rots waiting for buyers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458968"/>
            <a:ext cx="91440" cy="91440"/>
          </a:xfrm>
          <a:prstGeom prst="ellipse">
            <a:avLst/>
          </a:prstGeom>
          <a:solidFill>
            <a:srgbClr val="C85A3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4009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handoffs are untracked — packages and trust both go missing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r>
              <a:rPr lang="en-GB" sz="1450" b="0" u="sng" strike="noStrike" dirty="0">
                <a:effectLst/>
                <a:latin typeface="Google Sans"/>
                <a:hlinkClick r:id="rId3"/>
              </a:rPr>
              <a:t>National Bureau of Statistics</a:t>
            </a:r>
            <a:r>
              <a:rPr lang="en-GB" sz="1450" dirty="0"/>
              <a:t> (NBS)</a:t>
            </a:r>
            <a:r>
              <a:rPr lang="en-US" sz="1450" i="1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Annual Agricultural Sample Survey.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2D8A2D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closing every gap.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114800" cy="960120"/>
          </a:xfrm>
          <a:prstGeom prst="roundRect">
            <a:avLst>
              <a:gd name="adj" fmla="val 8571"/>
            </a:avLst>
          </a:prstGeom>
          <a:solidFill>
            <a:srgbClr val="0E1A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sell blind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0" y="1993392"/>
            <a:ext cx="621792" cy="621792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8" name="Image 0" descr="/home/claude/weagri-pitch/assets/icon_arrow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520" y="2173712"/>
            <a:ext cx="261153" cy="26115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89320" y="1828800"/>
            <a:ext cx="5669280" cy="960120"/>
          </a:xfrm>
          <a:prstGeom prst="roundRect">
            <a:avLst>
              <a:gd name="adj" fmla="val 8571"/>
            </a:avLst>
          </a:prstGeom>
          <a:solidFill>
            <a:srgbClr val="234A33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8288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marketplace + Harvest Calendar — buyers see what's coming before it's even picked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944368"/>
            <a:ext cx="4114800" cy="960120"/>
          </a:xfrm>
          <a:prstGeom prst="roundRect">
            <a:avLst>
              <a:gd name="adj" fmla="val 8571"/>
            </a:avLst>
          </a:prstGeom>
          <a:solidFill>
            <a:srgbClr val="0E1A2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9443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trust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029200" y="3108960"/>
            <a:ext cx="621792" cy="621792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14" name="Image 1" descr="/home/claude/weagri-pitch/assets/icon_arrow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520" y="3289280"/>
            <a:ext cx="261153" cy="26115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89320" y="2944368"/>
            <a:ext cx="5669280" cy="960120"/>
          </a:xfrm>
          <a:prstGeom prst="roundRect">
            <a:avLst>
              <a:gd name="adj" fmla="val 8571"/>
            </a:avLst>
          </a:prstGeom>
          <a:solidFill>
            <a:srgbClr val="234A33"/>
          </a:solidFill>
          <a:ln/>
        </p:spPr>
      </p:sp>
      <p:sp>
        <p:nvSpPr>
          <p:cNvPr id="16" name="Text 12"/>
          <p:cNvSpPr/>
          <p:nvPr/>
        </p:nvSpPr>
        <p:spPr>
          <a:xfrm>
            <a:off x="6217920" y="294436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Government-ID verification, badges, and a public seller-points &amp; rating system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4059936"/>
            <a:ext cx="4114800" cy="960120"/>
          </a:xfrm>
          <a:prstGeom prst="roundRect">
            <a:avLst>
              <a:gd name="adj" fmla="val 8571"/>
            </a:avLst>
          </a:prstGeom>
          <a:solidFill>
            <a:srgbClr val="0E1A2E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05993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rots unsold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5029200" y="4224528"/>
            <a:ext cx="621792" cy="621792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20" name="Image 2" descr="/home/claude/weagri-pitch/assets/icon_arrow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520" y="4404848"/>
            <a:ext cx="261153" cy="26115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989320" y="4059936"/>
            <a:ext cx="5669280" cy="960120"/>
          </a:xfrm>
          <a:prstGeom prst="roundRect">
            <a:avLst>
              <a:gd name="adj" fmla="val 8571"/>
            </a:avLst>
          </a:prstGeom>
          <a:solidFill>
            <a:srgbClr val="234A33"/>
          </a:solidFill>
          <a:ln/>
        </p:spPr>
      </p:sp>
      <p:sp>
        <p:nvSpPr>
          <p:cNvPr id="22" name="Text 17"/>
          <p:cNvSpPr/>
          <p:nvPr/>
        </p:nvSpPr>
        <p:spPr>
          <a:xfrm>
            <a:off x="6217920" y="4059936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get notified the moment a matching harvest is announced nearby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48640" y="5175504"/>
            <a:ext cx="4114800" cy="960120"/>
          </a:xfrm>
          <a:prstGeom prst="roundRect">
            <a:avLst>
              <a:gd name="adj" fmla="val 8571"/>
            </a:avLst>
          </a:prstGeom>
          <a:solidFill>
            <a:srgbClr val="0E1A2E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5175504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go untracked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5029200" y="5340096"/>
            <a:ext cx="621792" cy="621792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26" name="Image 3" descr="/home/claude/weagri-pitch/assets/icon_arrow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520" y="5520416"/>
            <a:ext cx="261153" cy="261153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989320" y="5175504"/>
            <a:ext cx="5669280" cy="960120"/>
          </a:xfrm>
          <a:prstGeom prst="roundRect">
            <a:avLst>
              <a:gd name="adj" fmla="val 8571"/>
            </a:avLst>
          </a:prstGeom>
          <a:solidFill>
            <a:srgbClr val="234A33"/>
          </a:solidFill>
          <a:ln/>
        </p:spPr>
      </p:sp>
      <p:sp>
        <p:nvSpPr>
          <p:cNvPr id="28" name="Text 22"/>
          <p:cNvSpPr/>
          <p:nvPr/>
        </p:nvSpPr>
        <p:spPr>
          <a:xfrm>
            <a:off x="6217920" y="5175504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QR + live GPS tracking from pickup to confirmed delivery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target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12264" cy="3533638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103120"/>
            <a:ext cx="868680" cy="86868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6" name="Image 0" descr="/home/claude/weagri-pitch/assets/icon_seedl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3202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1546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Farmers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79476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produce, plan harvests, sell direct.</a:t>
            </a:r>
          </a:p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initial target users 4 from Arusha in this category</a:t>
            </a:r>
          </a:p>
        </p:txBody>
      </p:sp>
      <p:sp>
        <p:nvSpPr>
          <p:cNvPr id="9" name="Shape 6"/>
          <p:cNvSpPr/>
          <p:nvPr/>
        </p:nvSpPr>
        <p:spPr>
          <a:xfrm>
            <a:off x="2770632" y="1783079"/>
            <a:ext cx="2103120" cy="3533637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7852" y="2103120"/>
            <a:ext cx="868680" cy="868680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11" name="Image 1" descr="/home/claude/weagri-pitch/assets/icon_livest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022" y="232029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31546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Livestock Keepers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35224" y="379476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animals &amp; dairy with verified trust.</a:t>
            </a:r>
          </a:p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initial target Users 2 from Arusha in this category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992624" y="1783080"/>
            <a:ext cx="2103120" cy="3533638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09844" y="2103120"/>
            <a:ext cx="868680" cy="868680"/>
          </a:xfrm>
          <a:prstGeom prst="ellipse">
            <a:avLst/>
          </a:prstGeom>
          <a:solidFill>
            <a:srgbClr val="C85A3A"/>
          </a:solidFill>
          <a:ln/>
        </p:spPr>
      </p:sp>
      <p:pic>
        <p:nvPicPr>
          <p:cNvPr id="16" name="Image 2" descr="/home/claude/weagri-pitch/assets/icon_bask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014" y="232029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2352" y="31546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57216" y="379476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fresh, nearby, verified sellers.</a:t>
            </a:r>
          </a:p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initial target users 7 from Arusha in this category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7214616" y="1783080"/>
            <a:ext cx="2097024" cy="3533638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31836" y="2103120"/>
            <a:ext cx="868680" cy="868680"/>
          </a:xfrm>
          <a:prstGeom prst="ellipse">
            <a:avLst/>
          </a:prstGeom>
          <a:solidFill>
            <a:srgbClr val="1F3D2B"/>
          </a:solidFill>
          <a:ln/>
        </p:spPr>
      </p:sp>
      <p:pic>
        <p:nvPicPr>
          <p:cNvPr id="21" name="Image 3" descr="/home/claude/weagri-pitch/assets/icon_docto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9006" y="232029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4344" y="31546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 Doctors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79208" y="379476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consultations, build a client base.</a:t>
            </a:r>
          </a:p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initial users is 2 from Arusha in this category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9436608" y="1783080"/>
            <a:ext cx="2103120" cy="3533638"/>
          </a:xfrm>
          <a:prstGeom prst="roundRect">
            <a:avLst>
              <a:gd name="adj" fmla="val 521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53828" y="2103120"/>
            <a:ext cx="868680" cy="868680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26" name="Image 4" descr="/home/claude/weagri-pitch/assets/icon_flas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0998" y="2320290"/>
            <a:ext cx="434340" cy="4343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46336" y="3154680"/>
            <a:ext cx="1883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&amp; Fertilizer Sellers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01200" y="3911864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farmers actively buying inputs.</a:t>
            </a:r>
          </a:p>
          <a:p>
            <a:pPr marL="0" indent="0" algn="ctr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initial users is 1 from Arusha in this Category.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48640" y="548564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trust system, every market.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real marketplace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6" name="Image 0" descr="/home/claude/weagri-pitch/assets/icon_basket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10769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9293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Marketplace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35608" y="22585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crop, livestock, seed &amp; fertilizer categories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96596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11" name="Image 1" descr="/home/claude/weagri-pitch/assets/icon_chat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21076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9293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212080" y="22585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seller message directly, in-app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01584" y="178308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84464" y="196596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16" name="Image 2" descr="/home/claude/weagri-pitch/assets/icon_qr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196" y="210769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8552" y="192938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Order Tracking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88552" y="22585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gets a unique trackable ID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38328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21" name="Image 3" descr="/home/claude/weagri-pitch/assets/icon_pin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" y="352501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35608" y="3346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Delivery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35608" y="367588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package move, pickup to drop-off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4325112" y="3200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338328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26" name="Image 4" descr="/home/claude/weagri-pitch/assets/icon_cal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724" y="352501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346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Calendar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212080" y="367588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announce harvests before they're ready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8101584" y="320040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84464" y="338328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31" name="Image 5" descr="/home/claude/weagri-pitch/assets/icon_shield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6196" y="3525012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8552" y="3346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Verification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988552" y="367588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Government-ID badge for trusted sellers</a:t>
            </a:r>
            <a:endParaRPr lang="en-US" sz="1450" dirty="0"/>
          </a:p>
        </p:txBody>
      </p:sp>
      <p:sp>
        <p:nvSpPr>
          <p:cNvPr id="34" name="Shape 26"/>
          <p:cNvSpPr/>
          <p:nvPr/>
        </p:nvSpPr>
        <p:spPr>
          <a:xfrm>
            <a:off x="548640" y="46177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31520" y="480060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36" name="Image 6" descr="/home/claude/weagri-pitch/assets/icon_star_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" y="4942332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35608" y="4764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Ratings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435608" y="509320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earn points per completed, rated order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4325112" y="46177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07992" y="480060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41" name="Image 7" descr="/home/claude/weagri-pitch/assets/icon_mobile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724" y="4942332"/>
            <a:ext cx="283464" cy="28346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12080" y="4764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5212080" y="509320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4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 from play store or App store</a:t>
            </a:r>
            <a:endParaRPr lang="en-US" sz="1450" dirty="0"/>
          </a:p>
        </p:txBody>
      </p:sp>
      <p:sp>
        <p:nvSpPr>
          <p:cNvPr id="44" name="Shape 34"/>
          <p:cNvSpPr/>
          <p:nvPr/>
        </p:nvSpPr>
        <p:spPr>
          <a:xfrm>
            <a:off x="8101584" y="46177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84464" y="4800600"/>
            <a:ext cx="566928" cy="566928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46" name="Image 8" descr="/home/claude/weagri-pitch/assets/icon_lang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6196" y="4942332"/>
            <a:ext cx="283464" cy="28346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88552" y="4764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+ English</a:t>
            </a:r>
            <a:endParaRPr lang="en-US" sz="1500" dirty="0"/>
          </a:p>
        </p:txBody>
      </p:sp>
      <p:sp>
        <p:nvSpPr>
          <p:cNvPr id="48" name="Text 37"/>
          <p:cNvSpPr/>
          <p:nvPr/>
        </p:nvSpPr>
        <p:spPr>
          <a:xfrm>
            <a:off x="8988552" y="509320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bilingual, more languages on the roadmap</a:t>
            </a:r>
            <a:endParaRPr lang="en-US" sz="1450" dirty="0"/>
          </a:p>
        </p:txBody>
      </p:sp>
      <p:sp>
        <p:nvSpPr>
          <p:cNvPr id="49" name="Text 38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F3D2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Total initial cost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</a:rPr>
              <a:t>TZS350,000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hosting the application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181051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</a:rPr>
              <a:t>TZS40,000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internet bundle </a:t>
            </a:r>
            <a:r>
              <a:rPr lang="en-US" sz="1450" dirty="0">
                <a:solidFill>
                  <a:prstClr val="black"/>
                </a:solidFill>
                <a:latin typeface="Calibri" panose="020F0502020204030204"/>
              </a:rPr>
              <a:t>used in development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2920" y="1828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F3D2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TZS60,000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3816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different software applications used in development of the app such as Resend JS API’s.</a:t>
            </a:r>
          </a:p>
        </p:txBody>
      </p:sp>
      <p:pic>
        <p:nvPicPr>
          <p:cNvPr id="15" name="Image 0" descr="/home/claude/weagri-pitch/assets/icon_wifi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41576"/>
            <a:ext cx="360680" cy="360680"/>
          </a:xfrm>
          <a:prstGeom prst="rect">
            <a:avLst/>
          </a:prstGeom>
        </p:spPr>
      </p:pic>
      <p:pic>
        <p:nvPicPr>
          <p:cNvPr id="18" name="Image 1" descr="/home/claude/weagri-pitch/assets/icon_coins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946418"/>
            <a:ext cx="346710" cy="346710"/>
          </a:xfrm>
          <a:prstGeom prst="rect">
            <a:avLst/>
          </a:prstGeom>
        </p:spPr>
      </p:pic>
      <p:pic>
        <p:nvPicPr>
          <p:cNvPr id="21" name="Image 2" descr="/home/claude/weagri-pitch/assets/icon_bulb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40" y="1976374"/>
            <a:ext cx="432562" cy="43256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C948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A96FB7-6C89-4C25-9AE2-708C7E1FAF68}"/>
              </a:ext>
            </a:extLst>
          </p:cNvPr>
          <p:cNvSpPr txBox="1"/>
          <p:nvPr/>
        </p:nvSpPr>
        <p:spPr>
          <a:xfrm>
            <a:off x="1939442" y="5996678"/>
            <a:ext cx="8313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Rounded MT Bold" panose="020F0704030504030204" pitchFamily="34" charset="0"/>
              </a:rPr>
              <a:t>Therefore; The total cost of production is TZS 450,000 </a:t>
            </a:r>
          </a:p>
        </p:txBody>
      </p:sp>
    </p:spTree>
    <p:extLst>
      <p:ext uri="{BB962C8B-B14F-4D97-AF65-F5344CB8AC3E}">
        <p14:creationId xmlns:p14="http://schemas.microsoft.com/office/powerpoint/2010/main" val="119704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943600" cy="5943600"/>
          </a:xfrm>
          <a:prstGeom prst="ellipse">
            <a:avLst/>
          </a:prstGeom>
          <a:solidFill>
            <a:srgbClr val="E8B04B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engines. One marketplace.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3093" y="1607901"/>
            <a:ext cx="4445668" cy="2826939"/>
          </a:xfrm>
          <a:prstGeom prst="roundRect">
            <a:avLst>
              <a:gd name="adj" fmla="val 3182"/>
            </a:avLst>
          </a:prstGeom>
          <a:solidFill>
            <a:srgbClr val="0E1A2E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1291" y="1803393"/>
            <a:ext cx="651510" cy="632861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" name="Image 0" descr="/home/claude/weagri-pitch/assets/icon_bullhorn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76" y="1931509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51610" y="17133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WeAgri Ad Center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21897" y="2545079"/>
            <a:ext cx="4572000" cy="800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subscriptions for companies  who want guaranteed visibility to farmers, livestock keepers, buyers, or agricultural professionals through ads— three tiers, billed monthly.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Target companies are 5 companies in Tanzania.</a:t>
            </a:r>
          </a:p>
        </p:txBody>
      </p:sp>
      <p:sp>
        <p:nvSpPr>
          <p:cNvPr id="10" name="Text 7"/>
          <p:cNvSpPr/>
          <p:nvPr/>
        </p:nvSpPr>
        <p:spPr>
          <a:xfrm>
            <a:off x="869584" y="333619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TZS50,000 – TZS200,000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6801" y="3720585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specification such as </a:t>
            </a:r>
            <a:r>
              <a:rPr lang="en-US" sz="1100" i="1">
                <a:solidFill>
                  <a:srgbClr val="9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audience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60351" y="1618061"/>
            <a:ext cx="4820855" cy="2758440"/>
          </a:xfrm>
          <a:prstGeom prst="roundRect">
            <a:avLst>
              <a:gd name="adj" fmla="val 3182"/>
            </a:avLst>
          </a:prstGeom>
          <a:solidFill>
            <a:srgbClr val="0E1A2E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269660" y="1804115"/>
            <a:ext cx="651510" cy="594360"/>
          </a:xfrm>
          <a:prstGeom prst="ellipse">
            <a:avLst/>
          </a:prstGeom>
          <a:solidFill>
            <a:srgbClr val="7B2FF7"/>
          </a:solidFill>
          <a:ln/>
        </p:spPr>
      </p:sp>
      <p:pic>
        <p:nvPicPr>
          <p:cNvPr id="14" name="Image 1" descr="/home/claude/weagri-pitch/assets/icon_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16" y="1947049"/>
            <a:ext cx="403259" cy="4032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63379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Boosting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292725" y="2406391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seller can pay a flat, one-time fee to promote a single post — pushing it to the top of suggested buyers' feeds for maximum reach.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5316" y="3220941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Pay-per-boost, self-serve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292725" y="358623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every seller, every listing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14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9AD481-30FE-47E7-9A25-D34D70509D5A}"/>
              </a:ext>
            </a:extLst>
          </p:cNvPr>
          <p:cNvSpPr txBox="1"/>
          <p:nvPr/>
        </p:nvSpPr>
        <p:spPr>
          <a:xfrm>
            <a:off x="646801" y="5082103"/>
            <a:ext cx="4212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/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7C12B4D1-58F6-44F7-8640-89882BEDB8E2}"/>
              </a:ext>
            </a:extLst>
          </p:cNvPr>
          <p:cNvSpPr/>
          <p:nvPr/>
        </p:nvSpPr>
        <p:spPr>
          <a:xfrm>
            <a:off x="327194" y="4661960"/>
            <a:ext cx="4697466" cy="2009191"/>
          </a:xfrm>
          <a:prstGeom prst="roundRect">
            <a:avLst>
              <a:gd name="adj" fmla="val 3182"/>
            </a:avLst>
          </a:prstGeom>
          <a:solidFill>
            <a:srgbClr val="0E1A2E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pPr algn="l"/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3% PER TRANSACTION</a:t>
            </a:r>
          </a:p>
          <a:p>
            <a:pPr algn="l"/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algn="l"/>
            <a:r>
              <a:rPr lang="en-US" sz="1600" b="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We earn from 3% of every User Transaction</a:t>
            </a: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 made. </a:t>
            </a:r>
          </a:p>
          <a:p>
            <a:pPr algn="l"/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10 transactions are expected to be completed per month.</a:t>
            </a:r>
          </a:p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Boosting — monetization in every seller's pocket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serve advertisers and big players. Boosting serves everyone else: a single farmer with one great harvest can pay a small, flat fee to push that listing or post to the top of “most recommended” in buyers' feeds — the same instinct as boosting a post on Instagram.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F0E5FB"/>
          </a:solidFill>
          <a:ln/>
        </p:spPr>
      </p:sp>
      <p:pic>
        <p:nvPicPr>
          <p:cNvPr id="6" name="Image 0" descr="/home/claude/weagri-pitch/assets/icon_bolt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41985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 required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5156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the smallest seller, not just paying advertisers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941064"/>
            <a:ext cx="365760" cy="365760"/>
          </a:xfrm>
          <a:prstGeom prst="ellipse">
            <a:avLst/>
          </a:prstGeom>
          <a:solidFill>
            <a:srgbClr val="F0E5FB"/>
          </a:solidFill>
          <a:ln/>
        </p:spPr>
      </p:sp>
      <p:pic>
        <p:nvPicPr>
          <p:cNvPr id="10" name="Image 1" descr="/home/claude/weagri-pitch/assets/icon_bolt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0233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instant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51560" y="41696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Boost button sits directly on every product card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544568"/>
            <a:ext cx="365760" cy="365760"/>
          </a:xfrm>
          <a:prstGeom prst="ellipse">
            <a:avLst/>
          </a:prstGeom>
          <a:solidFill>
            <a:srgbClr val="F0E5FB"/>
          </a:solidFill>
          <a:ln/>
        </p:spPr>
      </p:sp>
      <p:pic>
        <p:nvPicPr>
          <p:cNvPr id="14" name="Image 2" descr="/home/claude/weagri-pitch/assets/icon_bolt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626864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45171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revenue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051560" y="4773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small transactions, not a handful of big ones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F0E5FB"/>
          </a:solidFill>
          <a:ln/>
        </p:spPr>
      </p:sp>
      <p:pic>
        <p:nvPicPr>
          <p:cNvPr id="18" name="Image 3" descr="/home/claude/weagri-pitch/assets/icon_bolt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23036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the marketplace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051560" y="5376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sellers and listings means more boosting volume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7406640" y="1645920"/>
            <a:ext cx="4206240" cy="4572000"/>
          </a:xfrm>
          <a:prstGeom prst="roundRect">
            <a:avLst>
              <a:gd name="adj" fmla="val 3043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6809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from the app</a:t>
            </a:r>
            <a:endParaRPr lang="en-US" sz="1100" dirty="0"/>
          </a:p>
        </p:txBody>
      </p:sp>
      <p:pic>
        <p:nvPicPr>
          <p:cNvPr id="23" name="Image 4" descr="/home/claude/weagri-pitch/assets/product_boost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331720"/>
            <a:ext cx="3383280" cy="1591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8096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“Boost post” — visible on every single product a seller lists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680960" y="480060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1F3D2B"/>
          </a:solidFill>
          <a:ln/>
        </p:spPr>
      </p:sp>
      <p:sp>
        <p:nvSpPr>
          <p:cNvPr id="26" name="Text 19"/>
          <p:cNvSpPr/>
          <p:nvPr/>
        </p:nvSpPr>
        <p:spPr>
          <a:xfrm>
            <a:off x="786384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fee per boost — set per country currency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786384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E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TZS 50,000 / boost in Tanzania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GAINS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Tailored value, by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30168" cy="4434840"/>
          </a:xfrm>
          <a:prstGeom prst="roundRect">
            <a:avLst>
              <a:gd name="adj" fmla="val 3023"/>
            </a:avLst>
          </a:prstGeom>
          <a:solidFill>
            <a:srgbClr val="0E1A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713232" cy="713232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6" name="Image 0" descr="/home/claude/weagri-pitch/assets/icon_seedl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23570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 &amp; Livestock Keepers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675888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355701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directly — keep the margin a middleman would take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4389120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42702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harvests around real, pre-confirmed demand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5102352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4983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public reputation that compounds over time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25112" y="1783080"/>
            <a:ext cx="3630168" cy="4434840"/>
          </a:xfrm>
          <a:prstGeom prst="roundRect">
            <a:avLst>
              <a:gd name="adj" fmla="val 3023"/>
            </a:avLst>
          </a:prstGeom>
          <a:solidFill>
            <a:srgbClr val="0E1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4599432" y="2057400"/>
            <a:ext cx="713232" cy="713232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16" name="Image 1" descr="/home/claude/weagri-pitch/assets/icon_bas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740" y="2235708"/>
            <a:ext cx="356616" cy="3566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9432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599432" y="3675888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19" name="Text 15"/>
          <p:cNvSpPr/>
          <p:nvPr/>
        </p:nvSpPr>
        <p:spPr>
          <a:xfrm>
            <a:off x="4800600" y="355701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fresh, nearby, ID-verified sellers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99432" y="4389120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21" name="Text 17"/>
          <p:cNvSpPr/>
          <p:nvPr/>
        </p:nvSpPr>
        <p:spPr>
          <a:xfrm>
            <a:off x="4800600" y="42702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order live, from pickup to delivery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99432" y="5102352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23" name="Text 19"/>
          <p:cNvSpPr/>
          <p:nvPr/>
        </p:nvSpPr>
        <p:spPr>
          <a:xfrm>
            <a:off x="4800600" y="4983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 upcoming harvests before they sell out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101584" y="1783080"/>
            <a:ext cx="3630168" cy="4434840"/>
          </a:xfrm>
          <a:prstGeom prst="roundRect">
            <a:avLst>
              <a:gd name="adj" fmla="val 3023"/>
            </a:avLst>
          </a:prstGeom>
          <a:solidFill>
            <a:srgbClr val="0E1A2E"/>
          </a:solidFill>
          <a:ln/>
        </p:spPr>
      </p:sp>
      <p:sp>
        <p:nvSpPr>
          <p:cNvPr id="25" name="Shape 21"/>
          <p:cNvSpPr/>
          <p:nvPr/>
        </p:nvSpPr>
        <p:spPr>
          <a:xfrm>
            <a:off x="8375904" y="2057400"/>
            <a:ext cx="713232" cy="713232"/>
          </a:xfrm>
          <a:prstGeom prst="ellipse">
            <a:avLst/>
          </a:prstGeom>
          <a:solidFill>
            <a:srgbClr val="2D8A2D"/>
          </a:solidFill>
          <a:ln/>
        </p:spPr>
      </p:sp>
      <p:pic>
        <p:nvPicPr>
          <p:cNvPr id="26" name="Image 2" descr="/home/claude/weagri-pitch/assets/icon_docto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12" y="2235708"/>
            <a:ext cx="356616" cy="3566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75904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&amp; Input Sellers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8375904" y="3675888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29" name="Text 24"/>
          <p:cNvSpPr/>
          <p:nvPr/>
        </p:nvSpPr>
        <p:spPr>
          <a:xfrm>
            <a:off x="8577072" y="355701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entire active farming community at once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375904" y="4389120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31" name="Text 26"/>
          <p:cNvSpPr/>
          <p:nvPr/>
        </p:nvSpPr>
        <p:spPr>
          <a:xfrm>
            <a:off x="8577072" y="42702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consultations and seed/fertilizer sales into repeat business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375904" y="5102352"/>
            <a:ext cx="73152" cy="73152"/>
          </a:xfrm>
          <a:prstGeom prst="ellipse">
            <a:avLst/>
          </a:prstGeom>
          <a:solidFill>
            <a:srgbClr val="E8B04B"/>
          </a:solidFill>
          <a:ln/>
        </p:spPr>
      </p:sp>
      <p:sp>
        <p:nvSpPr>
          <p:cNvPr id="33" name="Text 28"/>
          <p:cNvSpPr/>
          <p:nvPr/>
        </p:nvSpPr>
        <p:spPr>
          <a:xfrm>
            <a:off x="8577072" y="4983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 directly to the audience that needs them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8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works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smallholder farmers using smartphones across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today.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36194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828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751M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mobile subscribers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 (GSMA)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/>
          <a:effectLst>
            <a:outerShdw blurRad="889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828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TZS 7.4T - 8.5T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contribution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mobile to Tanzania GDP by 2030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forces converging at once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420624" cy="420624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15" name="Image 0" descr="/home/claude/weagri-pitch/assets/icon_wifi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4357116"/>
            <a:ext cx="210312" cy="2103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42336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is no longer the blocker — mobile internet usage keeps climbing year over year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818888"/>
            <a:ext cx="420624" cy="420624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18" name="Image 1" descr="/home/claude/weagri-pitch/assets/icon_coins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4924044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43000" y="4800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(M-Pesa, Airtel Money, Mixx) already handles everyday payments across the region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5385816"/>
            <a:ext cx="420624" cy="420624"/>
          </a:xfrm>
          <a:prstGeom prst="ellipse">
            <a:avLst/>
          </a:prstGeom>
          <a:solidFill>
            <a:srgbClr val="E3EFE4"/>
          </a:solidFill>
          <a:ln/>
        </p:spPr>
      </p:sp>
      <p:pic>
        <p:nvPicPr>
          <p:cNvPr id="21" name="Image 2" descr="/home/claude/weagri-pitch/assets/icon_bulb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5490972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5367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agriculture is still mostly offline — the largest underserved sector left to digitize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TCRA, </a:t>
            </a:r>
            <a:r>
              <a:rPr lang="en-US" sz="1000" b="1" i="1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en-US" sz="850" i="1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GB" sz="900" b="1" i="0" dirty="0">
                <a:solidFill>
                  <a:srgbClr val="9E9E9E"/>
                </a:solidFill>
                <a:effectLst/>
                <a:latin typeface="Arial" panose="020B0604020202020204" pitchFamily="34" charset="0"/>
              </a:rPr>
              <a:t>Tanzania Communications Regulatory Authority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008857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 · 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F3D2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943600" cy="5943600"/>
          </a:xfrm>
          <a:prstGeom prst="ellipse">
            <a:avLst/>
          </a:prstGeom>
          <a:solidFill>
            <a:srgbClr val="E8B04B">
              <a:alpha val="45000"/>
            </a:srgbClr>
          </a:solidFill>
          <a:ln/>
        </p:spPr>
      </p:sp>
      <p:pic>
        <p:nvPicPr>
          <p:cNvPr id="4" name="Image 0" descr="/home/claude/weagri-pitch/assets/weagri_logo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08" y="5943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745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farmers. Real buyers. Real trust.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371600" y="2606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 turns Africa's largest, least-connected workforce into a trusted digital marketplace —</a:t>
            </a:r>
            <a:endParaRPr lang="en-US" sz="13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revenue model that grows the same way the platform does: one seller, one boost, one subscription at a time.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255368" y="3977640"/>
            <a:ext cx="457200" cy="457200"/>
          </a:xfrm>
          <a:prstGeom prst="ellipse">
            <a:avLst/>
          </a:prstGeom>
          <a:solidFill>
            <a:srgbClr val="234A33"/>
          </a:solidFill>
          <a:ln/>
        </p:spPr>
      </p:sp>
      <p:pic>
        <p:nvPicPr>
          <p:cNvPr id="8" name="Image 1" descr="/home/claude/weagri-pitch/assets/icon_users_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668" y="409194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95448" y="39867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33M+ smallholder farmers waiting to be reached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2255368" y="4599432"/>
            <a:ext cx="457200" cy="457200"/>
          </a:xfrm>
          <a:prstGeom prst="ellipse">
            <a:avLst/>
          </a:prstGeom>
          <a:solidFill>
            <a:srgbClr val="234A33"/>
          </a:solidFill>
          <a:ln/>
        </p:spPr>
      </p:sp>
      <p:pic>
        <p:nvPicPr>
          <p:cNvPr id="11" name="Image 2" descr="/home/claude/weagri-pitch/assets/icon_globe_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9668" y="471373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95448" y="460857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countries live, same playbook for the next 7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2255368" y="5221224"/>
            <a:ext cx="457200" cy="457200"/>
          </a:xfrm>
          <a:prstGeom prst="ellipse">
            <a:avLst/>
          </a:prstGeom>
          <a:solidFill>
            <a:srgbClr val="234A33"/>
          </a:solidFill>
          <a:ln/>
        </p:spPr>
      </p:sp>
      <p:pic>
        <p:nvPicPr>
          <p:cNvPr id="14" name="Image 3" descr="/home/claude/weagri-pitch/assets/icon_coins_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9668" y="5335524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895448" y="52303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engines, already built and working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</a:t>
            </a:r>
            <a:r>
              <a:rPr lang="en-US" sz="1050" dirty="0" err="1">
                <a:solidFill>
                  <a:srgbClr val="6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weagri.app</a:t>
            </a:r>
            <a:r>
              <a:rPr lang="en-US" sz="1050" dirty="0">
                <a:solidFill>
                  <a:srgbClr val="6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@swervetechcompany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10370</TotalTime>
  <Words>1145</Words>
  <Application>Microsoft Office PowerPoint</Application>
  <PresentationFormat>Widescreen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Rounded MT Bold</vt:lpstr>
      <vt:lpstr>Calibri</vt:lpstr>
      <vt:lpstr>Cambria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WeAgri — Agricultural Social Commerce Platform</dc:title>
  <dc:subject>PptxGenJS Presentation</dc:subject>
  <dc:creator>WeAgri</dc:creator>
  <cp:lastModifiedBy>Kevoo</cp:lastModifiedBy>
  <cp:revision>74</cp:revision>
  <dcterms:created xsi:type="dcterms:W3CDTF">2026-06-30T10:05:34Z</dcterms:created>
  <dcterms:modified xsi:type="dcterms:W3CDTF">2026-09-04T08:46:06Z</dcterms:modified>
</cp:coreProperties>
</file>